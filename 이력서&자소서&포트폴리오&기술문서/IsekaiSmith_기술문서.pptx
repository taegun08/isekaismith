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2B2420"/>
                </a:solidFill>
                <a:latin typeface="맑은 고딕"/>
              </a:rPr>
              <a:t>이세계 대장장이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5651D"/>
                </a:solidFill>
                <a:latin typeface="맑은 고딕"/>
              </a:rPr>
              <a:t>IsekaiSmith - Technical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155"/>
                </a:solidFill>
                <a:latin typeface="맑은 고딕"/>
              </a:rPr>
              <a:t>AI(Claude Code)를 페어 프로그래머로 둔 채집-제작-판매 순환형 3D 캐주얼 시뮬레이션 개발기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29768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기간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2026.07~진행중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2976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429768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커밋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183회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42976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429768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스크립트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90개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42976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429768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코드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약 1.7만 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2976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429768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개발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1인+AI 협업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29200"/>
            <a:ext cx="10515600" cy="1188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B6155"/>
                </a:solidFill>
                <a:latin typeface="맑은 고딕"/>
              </a:rPr>
              <a:t>[이미지 1] 표지/플레이 화면 - 게임 전체 톤이 드러나는 장면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여섯 시스템이 맞물려 돌아간다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이 프로젝트는 채집/보관/제작(Mining), 손님 판매(Sales), 전투(Combat), 플레이어, UI/온보딩, AiCompanion(02장) 여섯 시스템으로 구성되어 있습니다. 이 장에서는 게임 쪽 세 시스템(Mining/Sales/Combat)을 개요-구조-구현-동작흐름 순서로 다룹니다.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965960" cy="12801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채집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88920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필드 자원 노드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697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B5651D"/>
                </a:solidFill>
                <a:latin typeface="맑은 고딕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2286000"/>
            <a:ext cx="1965960" cy="12801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보관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788920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OreBank/ManaBank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697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B5651D"/>
                </a:solidFill>
                <a:latin typeface="맑은 고딕"/>
              </a:rP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3" y="2286000"/>
            <a:ext cx="1965960" cy="12801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3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5" y="2788920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CraftingStation+ForgeUpgrade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3" y="2697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B5651D"/>
                </a:solidFill>
                <a:latin typeface="맑은 고딕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5" y="2286000"/>
            <a:ext cx="1965960" cy="12801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판매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7" y="2788920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OrderQueueManager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697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B5651D"/>
                </a:solidFill>
                <a:latin typeface="맑은 고딕"/>
              </a:rP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7" y="2286000"/>
            <a:ext cx="1965960" cy="12801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7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전투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788920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필드,스테이지,던전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950208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0"/>
                </a:solidFill>
                <a:latin typeface="맑은 고딕"/>
              </a:rPr>
              <a:t>전투에서 얻은 재료가 다시 제작으로 들어가고, 판매로 번 골드는 대장간 업그레이드로 돌아가 순환이 닫힙니다.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EF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377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 장을 읽는 방법 — </a:t>
            </a:r>
            <a:r>
              <a:rPr sz="1150" b="0">
                <a:solidFill>
                  <a:srgbClr val="2B2420"/>
                </a:solidFill>
                <a:latin typeface="맑은 고딕"/>
              </a:rPr>
              <a:t>각 시스템을 ①왜 필요한지(개요) ②클래스가 서로 어떻게 연결되는지(구조 다이어그램) ③실제 코드 ④예시 하나를 처음부터 끝까지 따라가는 동작 흐름, 이 순서로 설명합니다. 코드보다 이 순서를 먼저 보시면 각 코드가 어떤 맥락에서 나왔는지 파악하기 쉽습니다.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채집/제작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시스템 개요 - 왜 두 가지 제작 경로가 있는가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Mining 1/6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What / Why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맑은 고딕"/>
              </a:rPr>
              <a:t>무엇인가 (What)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0292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필드에서 캔 광물/목재/마석을 등급별로 보관하고(OreBank/ManaBank), 그 재료로 무기를 만드는 시스템입니다. 제작 경로는 두 가지입니다.
- QUICK CRAFT: 재료만 있으면 즉시 완성됩니다. 품질은 대장간 업그레이드 등급(ForgeUpgrade)으로 고정되며, 결과물은 판매 전용(장착 불가)입니다.
- 정밀 제작: 재료 선택 -&gt; 용해 미니게임(온도) -&gt; 단조 미니게임(해머링) 순서로 직접 참여합니다. 품질에 따라 등급이 갈리고, 결과물은 장착까지 가능합니다.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9164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1051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맑은 고딕"/>
              </a:rPr>
              <a:t>왜 두 경로로 나눴나 (Why)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48840"/>
            <a:ext cx="49377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자주 만드는 저티어 아이템까지 매번 미니게임을 강제하면 피로도 문제가 생깁니다. QUICK CRAFT를 항상 열어두어 건너뛰면 자동으로 "보통" 품질을 받게 하고, 고티어/중요 아이템만 정밀 제작에 직접 참여해 품질을 끌어올리는 방식으로 몰입과 편의 사이의 선택을 플레이어에게 맡깁니다.
이 원칙은 게임 기획 문서(game_design_doc.html §4 "피로도 관리")에서 이미 정한 방향이며, CraftingStation.ApplyCraft()가 isQuickCraft 플래그 하나로 두 경로를 분기해 구현합니다.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채집/제작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시스템 구조 - 컴포넌트와 관계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Mining 2/6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2468880" cy="41148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OreBank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등급별 광물 재고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2148840"/>
            <a:ext cx="2971800" cy="548640"/>
          </a:xfrm>
          <a:prstGeom prst="line">
            <a:avLst/>
          </a:prstGeom>
          <a:ln w="22225">
            <a:solidFill>
              <a:srgbClr val="6F9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66160" y="132588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1325880"/>
            <a:ext cx="2468880" cy="41148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32588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ManaBank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등급별 마석 재고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2148840"/>
            <a:ext cx="228600" cy="548640"/>
          </a:xfrm>
          <a:prstGeom prst="line">
            <a:avLst/>
          </a:prstGeom>
          <a:ln w="22225">
            <a:solidFill>
              <a:srgbClr val="6F9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32588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325880"/>
            <a:ext cx="2468880" cy="41148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ResourceBank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7830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목재 재고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029200" y="2148840"/>
            <a:ext cx="2514600" cy="548640"/>
          </a:xfrm>
          <a:prstGeom prst="line">
            <a:avLst/>
          </a:prstGeom>
          <a:ln w="22225">
            <a:solidFill>
              <a:srgbClr val="6F9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80560" y="269748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0" y="2697480"/>
            <a:ext cx="3200400" cy="41148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26974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CraftingStation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154680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재료 확인 -&gt; 등급 결정 -&gt; 결과물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44728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CanCraft, NeedsOre, NeedsWood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685032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- ApplyCraft(quality, isQuickCraft, 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794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B5651D"/>
                </a:solidFill>
                <a:latin typeface="Consolas"/>
              </a:rPr>
              <a:t>isQuickCraft == 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94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5C4A8A"/>
                </a:solidFill>
                <a:latin typeface="Consolas"/>
              </a:rPr>
              <a:t>isQuickCraft == false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566160" y="3611880"/>
            <a:ext cx="1463040" cy="457200"/>
          </a:xfrm>
          <a:prstGeom prst="line">
            <a:avLst/>
          </a:prstGeom>
          <a:ln w="22225">
            <a:solidFill>
              <a:srgbClr val="B56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58000" y="3611880"/>
            <a:ext cx="1280160" cy="457200"/>
          </a:xfrm>
          <a:prstGeom prst="line">
            <a:avLst/>
          </a:prstGeom>
          <a:ln w="22225">
            <a:solidFill>
              <a:srgbClr val="5C4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737360" y="406908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737360" y="4069080"/>
            <a:ext cx="3657600" cy="41148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406908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ForgeUpgrade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47088" y="4526280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참조: 등급 상한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7088" y="4818888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CurrentTier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06908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0" y="4069080"/>
            <a:ext cx="3657600" cy="41148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06908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CraftingSilhouetteUI /
CraftingMinigameUI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526280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재료선택+온도+해머링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566160" y="4892040"/>
            <a:ext cx="0" cy="457200"/>
          </a:xfrm>
          <a:prstGeom prst="line">
            <a:avLst/>
          </a:prstGeom>
          <a:ln w="22225">
            <a:solidFill>
              <a:srgbClr val="B56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12480" y="4892040"/>
            <a:ext cx="0" cy="457200"/>
          </a:xfrm>
          <a:prstGeom prst="line">
            <a:avLst/>
          </a:prstGeom>
          <a:ln w="22225">
            <a:solidFill>
              <a:srgbClr val="5C4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737360" y="534924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737360" y="5349240"/>
            <a:ext cx="3657600" cy="41148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7360" y="534924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CarryStack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47088" y="5806440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판매용 등짐 (장착 불가)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47088" y="6099048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TryAdd(prop, pos, layer)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534924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83680" y="5349240"/>
            <a:ext cx="3657600" cy="41148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534924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ToolInventory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5806440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장착 가능 재고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8" y="6099048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Add(weapon, grade, ...)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채집/제작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실제 구현 - 두 경로가 갈라지는 지점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Mining 3/6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ApplyCraft() 안에서는 isQuickCraft 값 하나로 등급 계산 방식과 결과물이 가는 곳이 전부 갈립니다.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68296"/>
            <a:ext cx="11064240" cy="3621024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CraftGrade grade = isQuickCraft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? ForgeUpgrade.CurrentTier              // QUICK: 업그레이드 등급 고정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: CraftGradeUtility.GradeFor(quality);  // 정밀: 미니게임 품질로 결정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if (isQuickCraft)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8A9A7A"/>
                </a:solidFill>
                <a:latin typeface="Consolas"/>
              </a:rPr>
              <a:t>    // 판매 전용 - CarryStack에 실물로 올라감 (ToolInventory 아님)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for (int i = 0; i &lt; amount; i++)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carryStack.TryAdd(CarryItemTemplates.QuickCraftWeaponProp, pos, CarryLayer.Weapon);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else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8A9A7A"/>
                </a:solidFill>
                <a:latin typeface="Consolas"/>
              </a:rPr>
              <a:t>    // 장착 가능 - ToolInventory에 저장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ToolInventory.Add(weapon, oreGrade, grade, element, manaGrade, amount);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62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CraftingStation.ApplyCraft() 발췌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채집/제작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기능 동작 흐름 - 정밀 제작 한 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Mining 4/6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576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5651D"/>
                </a:solidFill>
                <a:latin typeface="맑은 고딕"/>
              </a:rPr>
              <a:t>이 기능이 왜 나왔나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6984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예시: 플레이어가 대장간에서 "정밀 제작"을 시작해 무기 하나를 완성하기까지의 과정입니다.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39112"/>
            <a:ext cx="457200" cy="621792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039112"/>
            <a:ext cx="5897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093976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6F9955"/>
                </a:solidFill>
                <a:latin typeface="맑은 고딕"/>
              </a:rPr>
              <a:t>상호작용 프롬프트 탭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CraftingStation이 CraftWithSilhouetteAndMinigames() 코루틴 시작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457200" cy="621792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52344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752344"/>
            <a:ext cx="5897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2807208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6F9955"/>
                </a:solidFill>
                <a:latin typeface="맑은 고딕"/>
              </a:rPr>
              <a:t>재료/무기 선택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CraftingSilhouetteUI.RunSilhouette()로 만들 무기 종류와 재료 선택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65576"/>
            <a:ext cx="457200" cy="621792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65576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465576"/>
            <a:ext cx="5897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520440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6F9955"/>
                </a:solidFill>
                <a:latin typeface="맑은 고딕"/>
              </a:rPr>
              <a:t>용해 미니게임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CraftingMinigameUI.RunTemperature()로 온도를 적정 구간에 맞춤 -&gt; meltQuality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78808"/>
            <a:ext cx="457200" cy="621792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78808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178808"/>
            <a:ext cx="5897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33672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6F9955"/>
                </a:solidFill>
                <a:latin typeface="맑은 고딕"/>
              </a:rPr>
              <a:t>단조 미니게임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RunHammering()으로 해머링 타이밍 맞춤 -&gt; hammerQuality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457200" cy="621792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892040"/>
            <a:ext cx="5897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946904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6F9955"/>
                </a:solidFill>
                <a:latin typeface="맑은 고딕"/>
              </a:rPr>
              <a:t>품질/등급 확정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quality = (meltQuality + hammerQuality) / 2 -&gt; ApplyCraft(quality, ..., false, ...)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05272"/>
            <a:ext cx="457200" cy="621792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0527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5605272"/>
            <a:ext cx="5897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5660136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6F9955"/>
                </a:solidFill>
                <a:latin typeface="맑은 고딕"/>
              </a:rPr>
              <a:t>보관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결정된 grade로 ToolInventory.Add() - 이제 장착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03911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155"/>
                </a:solidFill>
                <a:latin typeface="맑은 고딕"/>
              </a:rPr>
              <a:t>CraftingStation.cs 발췌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2331720"/>
            <a:ext cx="4434840" cy="3986784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2459736"/>
            <a:ext cx="40690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IEnumerator CraftWithSilhouetteAndMinigames()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yield return Silhouette.RunSilhouette(...);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yield return Minigame.RunTemperature(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  ..., q =&gt; meltQuality = q);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yield return Minigame.RunHammering(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  ..., q =&gt; hammerQuality = q);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float quality =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  (meltQuality + hammerQuality) * 0.5f;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ApplyCraft(quality, manaSpent, false,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    chosenWeapon, ...);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F1EAD9"/>
                </a:solidFill>
                <a:latin typeface="Consolas"/>
              </a:rP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채집/제작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재료 등급 - 채석장 하나가 세 가지 방법으로 성장한다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Mining 5/6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OreBank는 등급별(Iron/Steel/Mithril/Orichalcum) 광물 재고를 관리합니다. 다음 등급이 풀리는 조건은 세 가지 경로(누적 채집량 / 스테이지 클리어 / 던전 최고 도달 층) 중 가장 앞선 것을 따릅니다.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11064240" cy="3172968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52344"/>
            <a:ext cx="10698480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public static OreGrade Ceiling 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get 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OreGrade best = CumulativeCeiling;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if (StageCeiling &gt; best) best = StageCeiling;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if (DungeonCeiling &gt; best) best = DungeonCeiling;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return best;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8A9A7A"/>
                </a:solidFill>
                <a:latin typeface="Consolas"/>
              </a:rPr>
              <a:t>// 던전 15층 기준 제곱 곡선 - 얕은 층은 거의 안 움직이고, 깊을수록 확 오름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float depthRatio = Clamp01(DungeonBank.DeepestFloorCleared / 15f);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return depthRatio * depthRatio * QualityBiasMax;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704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OreBank.cs 발췌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채집/제작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등급은 캘 때가 아니라 쓸 때 정한다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6F9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Mining 6/6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344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대장간 업그레이드(ForgeUpgrade)로 QUICK CRAFT 등급 상한이 Rough에서 Common, Fine으로 오릅니다. 이 등급은 재료 하나하나에 저장하지 않고, 실제로 소모되는 순간에 CurrentTier를 다시 읽어 결정합니다. 이렇게 설계한 이유는 04장에서 다룹니다.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310896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08376"/>
            <a:ext cx="1069848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public static class ForgeUpgrade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private static readonly CraftGrade[] Tiers = { Rough, Common, Fine };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private static readonly int[] Costs = { 0, 50, 150 };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public static CraftGrade CurrentTier =&gt; Tiers[tierIndex];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public static bool TryUpgrade()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if (IsMaxed || !SalesCurrency.TrySpend(NextCost)) return false;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tierIndex++;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return true;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62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ForgeUpgrade.cs 핵심부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판매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시스템 개요 - 손님 대기줄이 왜 필요한가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Sales 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5651D"/>
                </a:solidFill>
                <a:latin typeface="맑은 고딕"/>
              </a:rPr>
              <a:t>What / Why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손님이 카운터 앞에 물리적으로 줄을 서고(최대 5명), 맨 앞 손님만 실제로 응대할 수 있는 판매 시스템입니다. 재고(등급별 무기 수)를 관리하는 쪽(OrderQueueManager)과 손님이 걷고 말풍선을 띄우는 연출(CustomerVisualManager/Customer)을 분리했습니다.
분리한 이유는 판매 로직(재고 계산, 결제)과 연출(캐릭터가 어떻게 보이는지)이 바뀌는 이유가 서로 다르기 때문입니다. 연출을 갈아엎더라도(예: 대기줄 배치를 카운터 옆에서 정면으로 바꾼 것, 05장 참고) 재고 로직은 전혀 손댈 필요가 없어야 한다는 원칙을 세웠습니다.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판매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시스템 구조 - 로직과 연출의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Sales 2/4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383280" cy="41148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OrderQueueManager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재고+주문 큐 관리
(손님 존재를 모름)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04288"/>
            <a:ext cx="3163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Queue: IReadOnlyList&lt;Order&gt;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42032"/>
            <a:ext cx="3163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TryFulfill(): bool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79776"/>
            <a:ext cx="3163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- counterStock: Dict&lt;Grade,int&gt;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423160"/>
            <a:ext cx="822960" cy="0"/>
          </a:xfrm>
          <a:prstGeom prst="line">
            <a:avLst/>
          </a:prstGeom>
          <a:ln w="22225">
            <a:solidFill>
              <a:srgbClr val="B56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86200" y="22768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B5651D"/>
                </a:solidFill>
                <a:latin typeface="맑은 고딕"/>
              </a:rPr>
              <a:t>폴링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55448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92040" y="1554480"/>
            <a:ext cx="3383280" cy="41148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554480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CustomerVisualManager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011680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Queue를 매 프레임 폴링
스폰/이동/퇴장 연출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2304288"/>
            <a:ext cx="3163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- customersById: Dict&lt;int,Customer&gt;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2542032"/>
            <a:ext cx="3163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Update(): 손님 동기화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75320" y="2423160"/>
            <a:ext cx="822960" cy="0"/>
          </a:xfrm>
          <a:prstGeom prst="line">
            <a:avLst/>
          </a:prstGeom>
          <a:ln w="22225">
            <a:solidFill>
              <a:srgbClr val="5C4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38160" y="22768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5C4A8A"/>
                </a:solidFill>
                <a:latin typeface="맑은 고딕"/>
              </a:rPr>
              <a:t>소유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55448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1554480"/>
            <a:ext cx="2468880" cy="41148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554480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Customer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01168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개별 손님 1명
걷기+말풍선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304288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HasArrived: bool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542032"/>
            <a:ext cx="22494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SetBubbleVisible(bool)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611880"/>
            <a:ext cx="10972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4903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OrderQueueManager는 재고와 주문 큐만 관리하며 Customer 클래스의 존재 자체를 모릅니다 - 판매 로직 코드에는 "손님"이라는 단어가 아예 등장하지 않습니다.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CustomerVisualManager는 매 프레임 OrderQueueManager.Queue를 읽어(폴링) 대기 인원을 확인하고, 그 수만큼 Customer 인스턴스를 스폰·이동·제거합니다.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이 구조 덕분에 대기줄을 카운터 옆에서 정면 중앙으로 바꾸거나(05-1) 말풍선 표시 시점을 바꾸는 작업(05-2)이 CustomerVisualManager/Customer 두 클래스 안에서만 끝났습니다 - </a:t>
            </a:r>
            <a:r>
              <a:rPr sz="1100" b="1">
                <a:solidFill>
                  <a:srgbClr val="B5651D"/>
                </a:solidFill>
                <a:latin typeface="맑은 고딕"/>
              </a:rPr>
              <a:t>OrderQueueManager는 한 줄도 바뀌지 않았습니다.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판매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실제 구현 - TryFulfill()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Sales 3/4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맨 앞 주문만 대상으로 삼고, 재고를 등급이 낮은 순서부터 소비합니다. 비싼 재고를 아껴두고 저렴한 주문부터 처리한다는 뜻입니다.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68296"/>
            <a:ext cx="11064240" cy="3621024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public bool TryFulfill()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CustomerOrder order = queue[0];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int remaining = order.RequestedCount - order.DeliveredCount;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foreach (CraftGrade grade in AscendingGrades) 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int take = Mathf.Min(GetStock(grade), remaining - delivered);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counterStock[grade] -= take;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payout += SalesPricing.BaseFor(grade) * take;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    delivered += take;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order.DeliveredCount += delivered;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SalesCurrency.Add(payout);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if (order.IsComplete) queue.RemoveAt(0);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62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OrderQueueManager.cs 발췌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판매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기능 동작 흐름 - 손님 한 명이 처리되기까지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Sales 4/4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576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5651D"/>
                </a:solidFill>
                <a:latin typeface="맑은 고딕"/>
              </a:rPr>
              <a:t>이 기능이 왜 나왔나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6984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예시: 대기줄 맨 뒤에 손님이 도착해 물건을 사고 떠나기까지의 과정입니다.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39112"/>
            <a:ext cx="457200" cy="621792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039112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093976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B5651D"/>
                </a:solidFill>
                <a:latin typeface="맑은 고딕"/>
              </a:rPr>
              <a:t>주문 생성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OrderQueueManager가 무작위 개수의 주문을 큐 맨 뒤에 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457200" cy="621792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52344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752344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2807208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B5651D"/>
                </a:solidFill>
                <a:latin typeface="맑은 고딕"/>
              </a:rPr>
              <a:t>연출 동기화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CustomerVisualManager가 다음 프레임 폴링에서 새 주문을 발견, Customer 스폰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65576"/>
            <a:ext cx="457200" cy="621792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65576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465576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520440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B5651D"/>
                </a:solidFill>
                <a:latin typeface="맑은 고딕"/>
              </a:rPr>
              <a:t>이동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Customer가 대기줄 슬롯까지 걸어감 (WalkTo)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78808"/>
            <a:ext cx="457200" cy="621792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78808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178808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33672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B5651D"/>
                </a:solidFill>
                <a:latin typeface="맑은 고딕"/>
              </a:rPr>
              <a:t>도착 확인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맨 앞자리 + HasArrived == true일 때만 요구치 말풍선 노출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457200" cy="621792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892040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946904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B5651D"/>
                </a:solidFill>
                <a:latin typeface="맑은 고딕"/>
              </a:rPr>
              <a:t>결제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플레이어가 말풍선 탭 -&gt; TryFulfill()이 재고를 소비하고 골드 지급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05272"/>
            <a:ext cx="457200" cy="621792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0527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5605272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5660136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B5651D"/>
                </a:solidFill>
                <a:latin typeface="맑은 고딕"/>
              </a:rPr>
              <a:t>퇴장/전진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주문 완료 시 queue.RemoveAt(0) -&gt; 뒤에 있던 손님들이 한 칸씩 앞으로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전투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시스템 개요 - 왜 몬스터 클래스가 하나뿐인가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Combat 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필드 잡몹, 스테이지 웨이브, 던전 몬스터/보스는 모두 같은 Monster 클래스의 인스턴스입니다. 전장마다 다른 느낌은 스폰하는 쪽이 호출하는 메서드 조합만으로 만듭니다 - 클래스를 나누지 않은 이유는 04장에서 다룹니다.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887" y="21031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0887" y="2103120"/>
            <a:ext cx="3291840" cy="411480"/>
          </a:xfrm>
          <a:prstGeom prst="roundRect">
            <a:avLst>
              <a:gd name="adj" fmla="val 6000"/>
            </a:avLst>
          </a:prstGeom>
          <a:solidFill>
            <a:srgbClr val="C9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210312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FieldMonsterSpawner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615" y="256032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615" y="2852927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SetStrength(약)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46807" y="3154680"/>
            <a:ext cx="3752241" cy="822959"/>
          </a:xfrm>
          <a:prstGeom prst="line">
            <a:avLst/>
          </a:prstGeom>
          <a:ln w="22225">
            <a:solidFill>
              <a:srgbClr val="A339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49927" y="21031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9927" y="2103120"/>
            <a:ext cx="3291840" cy="411480"/>
          </a:xfrm>
          <a:prstGeom prst="roundRect">
            <a:avLst>
              <a:gd name="adj" fmla="val 6000"/>
            </a:avLst>
          </a:prstGeom>
          <a:solidFill>
            <a:srgbClr val="C9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9927" y="210312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StageEncounterController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655" y="256032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655" y="2852927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SetAlwaysAggro(true)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5847" y="3154680"/>
            <a:ext cx="3201" cy="822959"/>
          </a:xfrm>
          <a:prstGeom prst="line">
            <a:avLst/>
          </a:prstGeom>
          <a:ln w="22225">
            <a:solidFill>
              <a:srgbClr val="A339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98967" y="21031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8967" y="2103120"/>
            <a:ext cx="3291840" cy="411480"/>
          </a:xfrm>
          <a:prstGeom prst="roundRect">
            <a:avLst>
              <a:gd name="adj" fmla="val 6000"/>
            </a:avLst>
          </a:prstGeom>
          <a:solidFill>
            <a:srgbClr val="C9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8967" y="210312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DungeonEncounterController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8695" y="256032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8695" y="2852927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SetScale(보스)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099048" y="3154680"/>
            <a:ext cx="3745839" cy="822959"/>
          </a:xfrm>
          <a:prstGeom prst="line">
            <a:avLst/>
          </a:prstGeom>
          <a:ln w="22225">
            <a:solidFill>
              <a:srgbClr val="A339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0" y="402336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0" y="4023360"/>
            <a:ext cx="3108960" cy="41148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0233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Monster (공용 클래스)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48056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필드/스테이지/던전 재사용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773168"/>
            <a:ext cx="2889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SetStrength/SetAlwaysAggro/SetScale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5010912"/>
            <a:ext cx="2889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TakeDamage(), ApplyStatusEffect()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난이도 수치는 코드가 아니라 StageWaveTable(ScriptableObject 데이터 시트)에서 읽어옵니다. 밸런스를 수정할 때 재컴파일이 필요 없습니다.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전투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실제 구현 - 스폰하는 쪽이 조합해서 "다른 몬스터"처럼 보이게 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Combat 2/3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장착 무기는 EquippedWeapon이 관리합니다. 판매로 재고가 빠지면 자동으로 최선의 보유 무기로 대체됩니다 - </a:t>
            </a:r>
            <a:r>
              <a:rPr sz="1250" b="1">
                <a:solidFill>
                  <a:srgbClr val="2B2420"/>
                </a:solidFill>
                <a:latin typeface="맑은 고딕"/>
              </a:rPr>
              <a:t>손님에게 팔 무기와 전투에 쓰는 무기가 같은 재고를 공유한다</a:t>
            </a:r>
            <a:r>
              <a:rPr sz="1250" b="0">
                <a:solidFill>
                  <a:srgbClr val="2B2420"/>
                </a:solidFill>
                <a:latin typeface="맑은 고딕"/>
              </a:rPr>
              <a:t>는 뜻입니다.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11064240" cy="2221992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52344"/>
            <a:ext cx="106984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monster.SetStrength(hpMult, dmgMult);   // 체력/공격력 배율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monster.SetAlwaysAggro(true);          // 스테이지: 대기 없이 즉시 접근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monster.SetScale(bossScaleMultiplier); // 던전 보스: 전용 메시 없이 크기로 위압감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8A9A7A"/>
                </a:solidFill>
                <a:latin typeface="Consolas"/>
              </a:rPr>
              <a:t>// EquippedWeapon.cs - 판매로 재고가 빠지면 최선의 보유 무기로 폴백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if (hasExplicitChoice &amp;&amp; ToolInventory.OwnsAny(chosenWeapon, ...))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return chosenWeapon;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return ToolInventory.TryGetBestWeapon(...);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9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Monster.cs / EquippedWeapon.cs 발췌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93792"/>
            <a:ext cx="11064240" cy="1207007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93792"/>
            <a:ext cx="10515600" cy="12070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[이미지 3] 전투 화면 - 필드/스테이지/던전 각 1장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 - 전투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기능 동작 흐름 - 필드 몬스터 한 마리를 처치하기까지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Combat 3/3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576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5651D"/>
                </a:solidFill>
                <a:latin typeface="맑은 고딕"/>
              </a:rPr>
              <a:t>이 기능이 왜 나왔나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6984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예시: 필드에서 슬라임을 발견해 처치하기까지의 과정입니다.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39112"/>
            <a:ext cx="457200" cy="621792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039112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093976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A3392F"/>
                </a:solidFill>
                <a:latin typeface="맑은 고딕"/>
              </a:rPr>
              <a:t>스폰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FieldMonsterSpawner가 Monster.Spawn() 호출, SetStrength(약함)으로 강도 낮춤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457200" cy="621792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52344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752344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2807208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A3392F"/>
                </a:solidFill>
                <a:latin typeface="맑은 고딕"/>
              </a:rPr>
              <a:t>접근 대기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AggroRadius 안에 플레이어가 들어와야 추적 시작 (스테이지와 달리 즉시 접근 안 함)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65576"/>
            <a:ext cx="457200" cy="621792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65576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465576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520440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A3392F"/>
                </a:solidFill>
                <a:latin typeface="맑은 고딕"/>
              </a:rPr>
              <a:t>전투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PlayerCombat 스윙 -&gt; Monster.TakeDamage() -&gt; 피격 연출(HitEffects)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78808"/>
            <a:ext cx="457200" cy="621792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78808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178808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33672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A3392F"/>
                </a:solidFill>
                <a:latin typeface="맑은 고딕"/>
              </a:rPr>
              <a:t>상태이상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장착 무기 속성에 따라 ApplyStatusEffect(화상/중독/마비/동상) 적용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457200" cy="621792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892040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946904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A3392F"/>
                </a:solidFill>
                <a:latin typeface="맑은 고딕"/>
              </a:rPr>
              <a:t>처치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HP 0 -&gt; Defeat() -&gt; 마석 드랍 확률 판정 -&gt; ResetAt()으로 일정 시간 뒤 재스폰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온보딩 - 행동을 완료하면 자동으로 넘어가는 튜토리얼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GuidedTutorial은 슬라이드 형태가 아니라 11단계 상태머신입니다. "다음" 버튼 없이 상단 배너와 바닥 화살표가 지금 할 일을 가리키며, 플레이어가 실제로 그 행동을 마치면 자동으로 다음 단계로 넘어갑니다.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전체 목록 (1/2) - Mining, Sales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카탈로그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0472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StorageDepot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90472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존 안에 있을 때만, 가속 페이싱으로 한 개씩 순차 입고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67712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ForgeUpgradeNode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67712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대장간 업그레이드 UI/상호작용 발판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44952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CarryStack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44952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나무/광물/무기 등 레이어별 등짐, 씬 간 물리 운반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22191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BlackMarketMerchant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822191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확률 등장, 희귀 재료 고가 판매 + 저가 매입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79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526279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99431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SalesPricing / SalesCurrency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599431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등급별 판매가, 골드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01. 지금 구현되어 있는 게임 속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전체 목록 (2/2) - Combat,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카탈로그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0472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StageEncounterController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90472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데이터 시트 기반 웨이브 난이도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67712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DungeonEncounterController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67712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층별 랜덤 생성, 깊이 비례 보상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44952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PlayerCombat / HitEffects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44952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스윙 판정, 체력/피격 연출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22191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StageSelectUI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822191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스테이지 선택/해금 상태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79"/>
            <a:ext cx="1106424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526279"/>
            <a:ext cx="91440" cy="667512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99431"/>
            <a:ext cx="38404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B2420"/>
                </a:solidFill>
                <a:latin typeface="Consolas"/>
              </a:rPr>
              <a:t>PlayerInventoryUI / CraftingSilhouetteUI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599431"/>
            <a:ext cx="658368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장비 장착 카드, 제작 재료 선택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02. AiCompanion - 만든 목적과 실제 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만든 이유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Editor 1/4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Claude Code CLI를 터미널에서 그대로 쓰면 Unity 에디터와 터미널 창을 계속 오가야 하고, 세션을 여러 개 운용할 경우 "지금 무엇을 하고 있는지" 파악하기 어렵습니다.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AiCompanion은 이 전환 비용을 없애기 위해 Unity 에디터 창 안에 AI 세션 관리 화면을 직접 만든 것입니다 - 19개 클래스, 4,425줄 규모입니다.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02. AiCompanion - 만든 목적과 실제 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시스템 구조 - Provider 추상화 (인터페이스/구현체)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Editor 2/4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00400" cy="41148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«interface»
IAiSessionRunner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74519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모든 AI 백엔드의 공통 계약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6712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IsBusy: bool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04872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Send(message: string)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42615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Kill()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8035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OnAssistantText: Action&lt;string&gt;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18103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OnTurnComplete: Action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529687" y="3017520"/>
            <a:ext cx="3551073" cy="594360"/>
          </a:xfrm>
          <a:prstGeom prst="line">
            <a:avLst/>
          </a:prstGeom>
          <a:ln w="22225">
            <a:solidFill>
              <a:srgbClr val="5C4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56583" y="31683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5C4A8A"/>
                </a:solidFill>
                <a:latin typeface="맑은 고딕"/>
              </a:rPr>
              <a:t>구현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487" y="3657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9487" y="3657600"/>
            <a:ext cx="3200400" cy="411480"/>
          </a:xfrm>
          <a:prstGeom prst="roundRect">
            <a:avLst>
              <a:gd name="adj" fmla="val 6000"/>
            </a:avLst>
          </a:prstGeom>
          <a:solidFill>
            <a:srgbClr val="8A6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87" y="365760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ClaudeSessionRunner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9215" y="4114800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구현체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215" y="440740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CLI 프로세스 실행/관리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3017520"/>
            <a:ext cx="15087" cy="594360"/>
          </a:xfrm>
          <a:prstGeom prst="line">
            <a:avLst/>
          </a:prstGeom>
          <a:ln w="22225">
            <a:solidFill>
              <a:srgbClr val="5C4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39663" y="31683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5C4A8A"/>
                </a:solidFill>
                <a:latin typeface="맑은 고딕"/>
              </a:rPr>
              <a:t>구현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5647" y="3657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95647" y="3657600"/>
            <a:ext cx="3200400" cy="411480"/>
          </a:xfrm>
          <a:prstGeom prst="roundRect">
            <a:avLst>
              <a:gd name="adj" fmla="val 6000"/>
            </a:avLst>
          </a:prstGeom>
          <a:solidFill>
            <a:srgbClr val="8A6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5647" y="365760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CodexSessionRunner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5375" y="4114800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구현체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5375" y="440740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CLI 프로세스 실행/관리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3017520"/>
            <a:ext cx="3581247" cy="594360"/>
          </a:xfrm>
          <a:prstGeom prst="line">
            <a:avLst/>
          </a:prstGeom>
          <a:ln w="22225">
            <a:solidFill>
              <a:srgbClr val="5C4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22743" y="31683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5C4A8A"/>
                </a:solidFill>
                <a:latin typeface="맑은 고딕"/>
              </a:rPr>
              <a:t>구현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1807" y="3657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61807" y="3657600"/>
            <a:ext cx="3200400" cy="411480"/>
          </a:xfrm>
          <a:prstGeom prst="roundRect">
            <a:avLst>
              <a:gd name="adj" fmla="val 6000"/>
            </a:avLst>
          </a:prstGeom>
          <a:solidFill>
            <a:srgbClr val="8A6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1807" y="365760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Consolas"/>
              </a:rPr>
              <a:t>CursorSessionRunner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1535" y="4114800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155"/>
                </a:solidFill>
                <a:latin typeface="맑은 고딕"/>
              </a:rPr>
              <a:t>구현체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1535" y="440740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2B2420"/>
                </a:solidFill>
                <a:latin typeface="Consolas"/>
              </a:rPr>
              <a:t>+ CLI 프로세스 실행/관리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95604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2420"/>
                </a:solidFill>
                <a:latin typeface="맑은 고딕"/>
              </a:rPr>
              <a:t>처음에는 Claude 전용으로 빠르게 만들었습니다. 이후 다른 CLI도 같은 방식으로 다루고자 한 시점에 IAiSessionRunner 인터페이스를 "동작은 그대로, 구조만 바꾸는" 순수 리팩터링으로 분리했습니다(05장 참고). CompanionSession은 이 인터페이스로만 대화하므로 어떤 구현체가 붙어도 상관없습니다.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02. AiCompanion - 만든 목적과 실제 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실제 구현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Editor 3/4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IAiSessionRunner.cs 전문입니다 - 이벤트 5개와 메서드 4개가 전부입니다. 구현체가 무엇이든 CompanionSession은 이 계약만 보고 대화합니다.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11064240" cy="3364992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52344"/>
            <a:ext cx="1069848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public interface IAiSessionRunner : IDisposable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event Action&lt;string&gt; OnSessionStarted;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event Action&lt;string&gt; OnAssistantText;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event Action&lt;string&gt; OnToolActivity;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event Action OnTurnComplete;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event Action&lt;string&gt; OnError;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bool IsBusy { get; }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string SessionId { get; }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void ResetSession();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void RestoreSession(string knownSessionId);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void Send(string message);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    void Kill();</a:t>
            </a:r>
          </a:p>
          <a:p>
            <a:pPr>
              <a:lnSpc>
                <a:spcPct val="120000"/>
              </a:lnSpc>
            </a:pPr>
            <a:r>
              <a:rPr sz="1130">
                <a:solidFill>
                  <a:srgbClr val="F1EAD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62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IAiSessionRunner.cs 전문(22줄)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02. AiCompanion - 만든 목적과 실제 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기능 동작 흐름 - 메시지 하나를 보냈을 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Editor 4/4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576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5651D"/>
                </a:solidFill>
                <a:latin typeface="맑은 고딕"/>
              </a:rPr>
              <a:t>이 기능이 왜 나왔나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69848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예시: AiCompanion 창에 메시지를 입력해 AI 응답이 화면에 표시되기까지의 과정입니다.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39112"/>
            <a:ext cx="457200" cy="621792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039112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093976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5C4A8A"/>
                </a:solidFill>
                <a:latin typeface="맑은 고딕"/>
              </a:rPr>
              <a:t>전송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AiCompanionWindow에서 CompanionSession.Runner.Send(message) 호출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457200" cy="621792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52344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752344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2807208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5C4A8A"/>
                </a:solidFill>
                <a:latin typeface="맑은 고딕"/>
              </a:rPr>
              <a:t>프로세스 실행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구현체(예: ClaudeSessionRunner)가 CLI 프로세스를 실행하고 표준 출력을 스트리밍으로 읽음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65576"/>
            <a:ext cx="457200" cy="621792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65576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465576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520440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5C4A8A"/>
                </a:solidFill>
                <a:latin typeface="맑은 고딕"/>
              </a:rPr>
              <a:t>이벤트 전파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텍스트 조각이 올 때마다 OnAssistantText 이벤트 발생 -&gt; ChatMarkdown이 렌더링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78808"/>
            <a:ext cx="457200" cy="621792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78808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178808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233672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5C4A8A"/>
                </a:solidFill>
                <a:latin typeface="맑은 고딕"/>
              </a:rPr>
              <a:t>도구 사용 표시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AI가 파일을 읽거나 명령을 실행하면 OnToolActivity로 캐릭터 스테이지 상태 갱신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457200" cy="621792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892040"/>
            <a:ext cx="1056131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946904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5C4A8A"/>
                </a:solidFill>
                <a:latin typeface="맑은 고딕"/>
              </a:rPr>
              <a:t>완료 - </a:t>
            </a:r>
            <a:r>
              <a:rPr sz="1080" b="0">
                <a:solidFill>
                  <a:srgbClr val="2B2420"/>
                </a:solidFill>
                <a:latin typeface="맑은 고딕"/>
              </a:rPr>
              <a:t>OnTurnComplete 발생 -&gt; CompanionLog에 대화 기록 저장, 다음 입력 대기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02. AiCompanion - 만든 목적과 실제 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실제로 뭐가 좋아졌나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Editor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체감되는 효과는 세 가지입니다. 첫째, </a:t>
            </a:r>
            <a:r>
              <a:rPr sz="1250" b="1">
                <a:solidFill>
                  <a:srgbClr val="2B2420"/>
                </a:solidFill>
                <a:latin typeface="맑은 고딕"/>
              </a:rPr>
              <a:t>세션이 끊겨도 맥락이 이어집니다.</a:t>
            </a:r>
            <a:r>
              <a:rPr sz="1250" b="0">
                <a:solidFill>
                  <a:srgbClr val="2B2420"/>
                </a:solidFill>
                <a:latin typeface="맑은 고딕"/>
              </a:rPr>
              <a:t> WORK_LOG.md에 매 작업 단위마다 무엇을 왜 했는지 기록하고, 다음 세션이 이를 먼저 읽고 시작합니다.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11064240" cy="1344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10607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둘째, </a:t>
            </a:r>
            <a:r>
              <a:rPr sz="1250" b="1">
                <a:solidFill>
                  <a:srgbClr val="2B2420"/>
                </a:solidFill>
                <a:latin typeface="맑은 고딕"/>
              </a:rPr>
              <a:t>결과만 말로 보고하지 않습니다.</a:t>
            </a:r>
            <a:r>
              <a:rPr sz="1250" b="0">
                <a:solidFill>
                  <a:srgbClr val="2B2420"/>
                </a:solidFill>
                <a:latin typeface="맑은 고딕"/>
              </a:rPr>
              <a:t> Unity Editor MCP로 AI가 직접 컴파일을 요청하고 콘솔 로그까지 확인한 뒤에만 작업을 완료로 인정하는 규칙을 세웠습니다. 셋째, </a:t>
            </a:r>
            <a:r>
              <a:rPr sz="1250" b="1">
                <a:solidFill>
                  <a:srgbClr val="2B2420"/>
                </a:solidFill>
                <a:latin typeface="맑은 고딕"/>
              </a:rPr>
              <a:t>AI 백엔드를 바꿔도 워크플로우는 그대로입니다.</a:t>
            </a:r>
            <a:r>
              <a:rPr sz="1250" b="0">
                <a:solidFill>
                  <a:srgbClr val="2B2420"/>
                </a:solidFill>
                <a:latin typeface="맑은 고딕"/>
              </a:rPr>
              <a:t> 183개 커밋 중 상당수가 좁은 단위로 나뉜 것도 이 워크플로우의 결과입니다.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87368"/>
            <a:ext cx="11064240" cy="2313431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87368"/>
            <a:ext cx="10515600" cy="23134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[이미지 4] AiCompanion 에디터 툴 창 - 채팅창/세션 목록/캐릭터 스테이지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03. 앞으로 구현할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로드맵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91440" cy="6858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5651D"/>
                </a:solidFill>
                <a:latin typeface="맑은 고딕"/>
              </a:rPr>
              <a:t>사운드/음악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08760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게임플레이가 먼저 안정화된 뒤, 최종 폴리싱 단계에서 한 번에 추가하기로 의도적으로 미뤄뒀습니다.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91440" cy="6858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5651D"/>
                </a:solidFill>
                <a:latin typeface="맑은 고딕"/>
              </a:rPr>
              <a:t>전투 밸런싱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86000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필드/스테이지/던전 난이도 곡선이 아직 감으로 잡혀 있어 수치 튜닝이 더 필요합니다.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91440" cy="6858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5651D"/>
                </a:solidFill>
                <a:latin typeface="맑은 고딕"/>
              </a:rPr>
              <a:t>가이드 튜토리얼 풀 플레이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063240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11단계 전체를 처음부터 끝까지 실제로 밟아보는 검증이 아직 끝나지 않았습니다.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91440" cy="6858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40479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5651D"/>
                </a:solidFill>
                <a:latin typeface="맑은 고딕"/>
              </a:rPr>
              <a:t>무기 다양성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840479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검 세로축(등급 4단계)은 완성했고, 도끼/망치/단검을 옆으로 채우는 작업이 남아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79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526279"/>
            <a:ext cx="91440" cy="68580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17719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B5651D"/>
                </a:solidFill>
                <a:latin typeface="맑은 고딕"/>
              </a:rPr>
              <a:t>AiCompanion 멀티 세션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617719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여러 세션을 나란히 보는 UI를 준비 중입니다. MCP 의존도를 선택적으로 만들고, 장기적으로는 에셋 형태 배포도 검토하고 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재료 등급, 캘 때 고정할까 쓸 때 다시 읽을까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1/5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제작 등급 데이터 관리 방식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채집 시점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6916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7465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465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"이 재료를 언제 캤는지"가 명확하게 남습니다.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4917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5466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466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업그레이드 직후에도 예전 재료는 낮은 등급 그대로 남아 혼란을 줍니다.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소비 시점 재해석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474720"/>
            <a:ext cx="9555480" cy="4785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529584"/>
            <a:ext cx="100584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529584"/>
            <a:ext cx="822960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인벤토리는 개수만 추적하면 되어 구조가 단순합니다.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4008120"/>
            <a:ext cx="9555480" cy="4785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062984"/>
            <a:ext cx="100584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062984"/>
            <a:ext cx="822960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업그레이드 시점과 무관하게 항상 최신 등급이 반영됩니다.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4541520"/>
            <a:ext cx="9555480" cy="4785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596384"/>
            <a:ext cx="100584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596384"/>
            <a:ext cx="822960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"몇 시에 캤는지"에 대한 정보는 사라집니다(이 게임에는 불필요).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최종 선택 - 소비 시점 재해석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1/5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제작 등급 데이터 관리 방식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828800" cy="3794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최종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소비 시점
재해석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76479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6479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플레이어 관점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캐주얼 시뮬레이션에서 플레이어가 궁금해하는 것은 "언제 캤는지"가 아니라 "지금 무엇을 만들 수 있는지"입니다.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31470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38785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8785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일관성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OreBank와 CraftingStation 두 곳 모두, 재료가 쓰이는 순간에 등급을 다시 확정하는 원칙을 동일하게 적용했습니다.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F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3A3A"/>
                </a:solidFill>
                <a:latin typeface="맑은 고딕"/>
              </a:rPr>
              <a:t>감수한 단점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재료를 캔 시점 자체는 더 이상 추적하지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손님 인내심 게이지와 평판, 넣을까 뺄까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2/5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판매 압박 시스템 도입 여부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인내심 + 평판 도입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6916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7465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465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초반 기획이 의도했던 "장사 압박감" 연출이 살아납니다.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4917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5466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466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밸런싱 수치가 계속 늘어나 1인 개발 사이클에는 부담이 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완전히 배제 (채택)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474720"/>
            <a:ext cx="9555480" cy="4785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529584"/>
            <a:ext cx="100584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529584"/>
            <a:ext cx="822960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개인 개발 규모에서 밸런싱 부담을 최소화합니다.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4008120"/>
            <a:ext cx="9555480" cy="4785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062984"/>
            <a:ext cx="100584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062984"/>
            <a:ext cx="822960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캐주얼한 템포를 유지합니다.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4541520"/>
            <a:ext cx="9555480" cy="4785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596384"/>
            <a:ext cx="100584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596384"/>
            <a:ext cx="8229600" cy="368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"장사가 급하다"는 압박감은 약해집니다.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최종 선택 - 인내심/평판 완전 배제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2/5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판매 압박 시스템 도입 여부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828800" cy="3794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최종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완전 배제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76479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6479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개발 리소스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1인 개발 + AI 협업 사이클에서 압박형 밸런스를 계속 다듬을 여유가 크지 않았습니다.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31470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38785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8785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톤 일치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압박형 시스템이 캐주얼한 톤과 어긋난다고 판단했습니다.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F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3A3A"/>
                </a:solidFill>
                <a:latin typeface="맑은 고딕"/>
              </a:rPr>
              <a:t>감수한 단점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"장사가 급하다"는 동기부여는 포기했습니다 - 코드 주석에 결정을 남겨 재논의를 방지했습니다.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AI가 만든 코드를 얼마나 믿을까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3/5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AI 작업 완료 판정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결과만 신뢰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6916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7465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465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왕복 없이 바로 다음 작업으로 넘어가 속도가 빠릅니다.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4917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5466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466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컴파일이 깨진 채 다음 요청으로 넘어가는 경우가 누적됩니다.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직접 실행·검증 (채택)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47472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52958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52958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컴파일 에러를 그 자리에서 잡아 깨진 기반 위에 쌓이는 것을 방지합니다.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427482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32968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32968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매 단계 검증에 왕복 시간이 늘어납니다.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최종 선택 - Unity Editor MCP로 직접 검증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3/5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AI 작업 완료 판정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828800" cy="3794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최종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직접 실행
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9052560" cy="31546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764792"/>
            <a:ext cx="1280160" cy="3008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64792"/>
            <a:ext cx="7452360" cy="3008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규모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90개 스크립트가 서로 참조하는 규모에서는 에러 하나가 이후 작업 전체를 무의미하게 만들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663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F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3A3A"/>
                </a:solidFill>
                <a:latin typeface="맑은 고딕"/>
              </a:rPr>
              <a:t>감수한 단점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왕복 시간은 늘지만, 깨진 기반 위에 계속 쌓이는 것보다 낫다고 판단했습니다.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전투 3종을 각각 다른 클래스로 만들까, 하나로 재사용할까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4/5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필드/스테이지/던전 몬스터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전장별 전용 클래스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6916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7465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465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전장별 특수 로직을 자유롭게 작성할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4917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5466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466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피격 연출/상태이상 같은 공통 로직이 세 곳에 중복되기 쉽습니다.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Monster 하나 재사용 (채택)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47472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52958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52958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공통 로직을 한 곳만 고치면 세 전장에 동시에 반영됩니다.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427482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32968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32968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Monster 클래스 자체가 계속 커집니다(현재 286줄).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최종 선택 - Monster 하나 + 파라미터 조합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4/5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필드/스테이지/던전 몬스터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828800" cy="3794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최종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Monster
재사용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76479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6479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개발 규모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1인 개발 규모에서 버그를 세 클래스에 각각 고치고 싶지 않았습니다.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31470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38785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8785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확장 방식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전장다움은 SetStrength/SetAlwaysAggro/SetScale 같은 파라미터 조합만으로 표현합니다.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F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3A3A"/>
                </a:solidFill>
                <a:latin typeface="맑은 고딕"/>
              </a:rPr>
              <a:t>감수한 단점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클래스가 계속 커지는 트레이드오프는 있지만, 지금은 감당할 만한 수준입니다(286줄).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AI 백엔드 추상화, 처음부터 할까 필요할 때 할까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IAiSessionRunner 도입 시점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처음부터 인터페이스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6916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7465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465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확장 방향이 처음부터 명확합니다.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49174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54660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4660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Claude 하나만 쓸 경우 과설계(YAGNI 위반) 위험이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1417320" cy="1600200"/>
          </a:xfrm>
          <a:prstGeom prst="roundRect">
            <a:avLst>
              <a:gd name="adj" fmla="val 6000"/>
            </a:avLst>
          </a:prstGeom>
          <a:solidFill>
            <a:srgbClr val="4C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2344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필요할 때 추출 (채택)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47472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52958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6F9955"/>
                </a:solidFill>
                <a:latin typeface="맑은 고딕"/>
              </a:rPr>
              <a:t>장점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52958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Codex/Cursor 지원이 실제로 필요해질 때까지 설계 시간을 쓰지 않습니다.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4274820"/>
            <a:ext cx="9555480" cy="745236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329684"/>
            <a:ext cx="100584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8A3A3A"/>
                </a:solidFill>
                <a:latin typeface="맑은 고딕"/>
              </a:rPr>
              <a:t>단점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329684"/>
            <a:ext cx="822960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420"/>
                </a:solidFill>
                <a:latin typeface="맑은 고딕"/>
              </a:rPr>
              <a:t>나중에 리팩터링할 때 동작을 유지해야 하는 회귀 위험이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04. 고민과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최종 선택 - 필요해진 시점에 순수 리팩터링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155"/>
                </a:solidFill>
                <a:latin typeface="맑은 고딕"/>
              </a:rPr>
              <a:t># IAiSessionRunner 도입 시점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828800" cy="3794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최종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645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필요 시점에
추출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76479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6479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원칙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YAGNI 원칙 - 당시엔 Claude 하나만 붙일 계획이었으므로, 아직 필요하지 않은 다중 백엔드용 인터페이스를 미리 만들지 않았습니다.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314700"/>
            <a:ext cx="9052560" cy="15316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387852"/>
            <a:ext cx="12801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B5651D"/>
                </a:solidFill>
                <a:latin typeface="맑은 고딕"/>
              </a:rPr>
              <a:t>이유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87852"/>
            <a:ext cx="7452360" cy="1385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B2420"/>
                </a:solidFill>
                <a:latin typeface="맑은 고딕"/>
              </a:rPr>
              <a:t>리팩터링 규율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"동작은 절대 바꾸지 않는다"는 원칙 아래 기능 추가와 구조 변경을 같은 커밋에 섞지 않았습니다.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F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A3A3A"/>
                </a:solidFill>
                <a:latin typeface="맑은 고딕"/>
              </a:rPr>
              <a:t>감수한 단점 — </a:t>
            </a:r>
            <a:r>
              <a:rPr sz="1100" b="0">
                <a:solidFill>
                  <a:srgbClr val="2B2420"/>
                </a:solidFill>
                <a:latin typeface="맑은 고딕"/>
              </a:rPr>
              <a:t>회귀 위험은 리팩터링을 기능 추가와 분리하는 규율로 관리했습니다.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05. 만들고 나서 다시 고친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손님 대기줄 - 카운터 옆에서 정면 중앙으로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대기줄 슬롯을 처음에는 카운터 폭 바깥까지 옆으로 늘어놓았습니다(카운터 폭 3.2m인데 슬롯은 x=-1.4~4.2).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3A3A"/>
                </a:solidFill>
                <a:latin typeface="맑은 고딕"/>
              </a:rPr>
              <a:t>무엇이 문제였나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실제로 배치해보니 손님들이 카운터 옆에 서 있는 것처럼 보였습니다.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어떻게 고쳤나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카운터 정면 중앙(x=0)에서 한 줄로 다가오도록 다시 배치했습니다.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A3A3A"/>
                </a:solidFill>
                <a:latin typeface="맑은 고딕"/>
              </a:rPr>
              <a:t>카운터 옆, x -1.4~4.2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519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6155"/>
                </a:solidFill>
                <a:latin typeface="맑은 고딕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F9955"/>
                </a:solidFill>
                <a:latin typeface="맑은 고딕"/>
              </a:rPr>
              <a:t>카운터 정면 중앙, x=0 일렬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05. 만들고 나서 다시 고친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요구치 표시 시점 - 스폰 직후에서 도착 후로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2/6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말풍선은 손님이 스폰되는 순간부터 보였습니다.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3A3A"/>
                </a:solidFill>
                <a:latin typeface="맑은 고딕"/>
              </a:rPr>
              <a:t>무엇이 문제였나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아직 줄 서서 걸어오는 중인데도 요구치가 보이는 것이 어색하다는 피드백을 받았습니다.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어떻게 고쳤나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맨 앞자리에 실제로 도착(HasArrived)했을 때만 보이도록 상태를 분리했습니다.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A3A3A"/>
                </a:solidFill>
                <a:latin typeface="맑은 고딕"/>
              </a:rPr>
              <a:t>스폰 즉시 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519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6155"/>
                </a:solidFill>
                <a:latin typeface="맑은 고딕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F9955"/>
                </a:solidFill>
                <a:latin typeface="맑은 고딕"/>
              </a:rPr>
              <a:t>맨 앞 + 도착 확인 후 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05. 만들고 나서 다시 고친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손님 간 간격 - 0.9m에서 1.6m로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3/6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대기줄 슬롯 간격을 0.9m로 잡아뒀습니다.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3A3A"/>
                </a:solidFill>
                <a:latin typeface="맑은 고딕"/>
              </a:rPr>
              <a:t>무엇이 문제였나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실제로 줄을 세워보니 손님 캡슐(지름 1m)끼리 거의 붙어 보였습니다.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어떻게 고쳤나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슬롯 간격을 1.6m로 넓히고, 스폰 지점도 같은 간격만큼 뒤로 옮겼습니다.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A3A3A"/>
                </a:solidFill>
                <a:latin typeface="맑은 고딕"/>
              </a:rPr>
              <a:t>0.9m 간격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519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6155"/>
                </a:solidFill>
                <a:latin typeface="맑은 고딕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F9955"/>
                </a:solidFill>
                <a:latin typeface="맑은 고딕"/>
              </a:rPr>
              <a:t>1.6m 간격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05. 만들고 나서 다시 고친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보관함 - 자원마다 다른 색에서 하나의 재질로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4/6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목재/광물/마석 보관함은 전부 같은 큐브 메시였습니다.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3A3A"/>
                </a:solidFill>
                <a:latin typeface="맑은 고딕"/>
              </a:rPr>
              <a:t>무엇이 문제였나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각자 담는 자원 색을 그대로 물려받은 재질(갈색/회갈색/보라색)이라 "세 개의 다른 상자"처럼 보였습니다.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어떻게 고쳤나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신규 재질 하나로 색을 통일했습니다. 위치와 기능(자원별 별도 오브젝트)은 그대로 두고 외형만 맞췄습니다.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A3A3A"/>
                </a:solidFill>
                <a:latin typeface="맑은 고딕"/>
              </a:rPr>
              <a:t>자원별 다른 색 3종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519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6155"/>
                </a:solidFill>
                <a:latin typeface="맑은 고딕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F9955"/>
                </a:solidFill>
                <a:latin typeface="맑은 고딕"/>
              </a:rPr>
              <a:t>단일 재질로 통일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05. 만들고 나서 다시 고친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가이드 튜토리얼 - 판매까지에서 던전까지로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5/6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처음에는 채집, 퀵제작, 판매에서 끝났습니다.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3A3A"/>
                </a:solidFill>
                <a:latin typeface="맑은 고딕"/>
              </a:rPr>
              <a:t>무엇이 문제였나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게임 루프 자체가 사냥/제작/장착/스테이지/던전까지 커지면서 튜토리얼이 절반만 다루는 상태가 됐습니다.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어떻게 고쳤나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구조를 전면적으로 다시 짜서 전체 루프를 도는 버전으로 확장했습니다. 장비함 해금 조건이 예전 기준에 걸려 있던 버그도 함께 수정했습니다.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A3A3A"/>
                </a:solidFill>
                <a:latin typeface="맑은 고딕"/>
              </a:rPr>
              <a:t>채집-퀵제작-판매 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519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6155"/>
                </a:solidFill>
                <a:latin typeface="맑은 고딕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F9955"/>
                </a:solidFill>
                <a:latin typeface="맑은 고딕"/>
              </a:rPr>
              <a:t>사냥~장착~스테이지~던전 11단계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05. 만들고 나서 다시 고친 것들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상호작용 발판/화살표 - 눈대중 반경에서 실제 반경으로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6/6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2420"/>
                </a:solidFill>
                <a:latin typeface="맑은 고딕"/>
              </a:rPr>
              <a:t>튜토리얼 화살표가 목표 근처에서도 계속 떠 있어 거슬린다는 피드백을 받았습니다.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3A3A"/>
                </a:solidFill>
                <a:latin typeface="맑은 고딕"/>
              </a:rPr>
              <a:t>무엇이 문제였나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화살표를 숨기는 기준이 고정된 0.2m 데드존이라 실제 상호작용 가능 범위와 맞지 않았습니다.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F9955"/>
                </a:solidFill>
                <a:latin typeface="맑은 고딕"/>
              </a:rPr>
              <a:t>어떻게 고쳤나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B2420"/>
                </a:solidFill>
                <a:latin typeface="맑은 고딕"/>
              </a:rPr>
              <a:t>각 시스템(제작소/보관함/판매대)이 이미 갖고 있던 실제 판정 반경을 그대로 읽어와 통일했습니다.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3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A3A3A"/>
                </a:solidFill>
                <a:latin typeface="맑은 고딕"/>
              </a:rPr>
              <a:t>고정 0.2m 데드존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519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6155"/>
                </a:solidFill>
                <a:latin typeface="맑은 고딕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5196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EE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F9955"/>
                </a:solidFill>
                <a:latin typeface="맑은 고딕"/>
              </a:rPr>
              <a:t>시스템별 실제 반경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06. 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결과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Retrospective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2386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커밋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183회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554480"/>
            <a:ext cx="2386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스크립트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90개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554480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554480"/>
            <a:ext cx="2386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코드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약 1.7만 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554480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2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7" y="1554480"/>
            <a:ext cx="2386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EAD9"/>
                </a:solidFill>
                <a:latin typeface="맑은 고딕"/>
              </a:rPr>
              <a:t>개발 기간 </a:t>
            </a:r>
            <a:r>
              <a:rPr sz="1100" b="1">
                <a:solidFill>
                  <a:srgbClr val="FFCF8A"/>
                </a:solidFill>
                <a:latin typeface="맑은 고딕"/>
              </a:rPr>
              <a:t>6주+ (진행중)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774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146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6개 최상위 시스템이 서로 느슨하게 결합된 구조로, 지금까지 큰 재설계 없이 확장되고 있습니다. 05장에 정리한 변경들도 대부분 기존 구조를 갈아엎지 않고 좁은 범위에서 고칠 수 있었던 것은, 처음부터 시스템 경계를 분명하게 나눠뒀기 때문이라고 생각합니다.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06. 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AI 협업, 다시 보면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A3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Retrospective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AI 협업을 "빠르게 코드를 뽑아내는 도구"로만 쓰면 얻는 것이 제한적이라고 느꼈습니다.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68296"/>
            <a:ext cx="11064240" cy="832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오히려 작업 로그, 실행 검증, 커밋 단위 같은 </a:t>
            </a:r>
            <a:r>
              <a:rPr sz="1250" b="1">
                <a:solidFill>
                  <a:srgbClr val="2B2420"/>
                </a:solidFill>
                <a:latin typeface="맑은 고딕"/>
              </a:rPr>
              <a:t>워크플로우 자체를 설계하고 도구(AiCompanion)까지 만든 것</a:t>
            </a:r>
            <a:r>
              <a:rPr sz="1250" b="0">
                <a:solidFill>
                  <a:srgbClr val="2B2420"/>
                </a:solidFill>
                <a:latin typeface="맑은 고딕"/>
              </a:rPr>
              <a:t>이 더 큰 성과로 남았습니다.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9272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38144"/>
            <a:ext cx="10607040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2B2420"/>
                </a:solidFill>
                <a:latin typeface="맑은 고딕"/>
              </a:rPr>
              <a:t>다만 세션이 길어질수록 토큰 비용이 늘어나는 문제를 확인해, 최근에는 세션이 길어지면 다음 기능은 새 세션에서 시작하는 원칙을 추가로 세웠습니다 - 여전히 다듬는 중입니다.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155"/>
                </a:solidFill>
                <a:latin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420"/>
                </a:solidFill>
                <a:latin typeface="맑은 고딕"/>
              </a:rPr>
              <a:t>찍어야 할 스크린샷 체크리스트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19050">
            <a:solidFill>
              <a:srgbClr val="DCD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515600" y="320040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[이미지 1] 표지용 - 게임 전체 톤이 드러나는 플레이 화면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9456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[이미지 2] 판매대 - 손님 3~5명 대기줄 + 맨 앞 손님 요구치 말풍선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9748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69748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[이미지 3] 전투 화면 - 필드/스테이지/던전 각 1장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320040" cy="3200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C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20040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2420"/>
                </a:solidFill>
                <a:latin typeface="맑은 고딕"/>
              </a:rPr>
              <a:t>[이미지 4] AiCompanion 에디터 툴 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155"/>
                </a:solidFill>
                <a:latin typeface="맑은 고딕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